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35e3301f04dcb" /><Relationship Type="http://schemas.openxmlformats.org/officeDocument/2006/relationships/extended-properties" Target="/docProps/app.xml" Id="R9b3ffe4938de4d20" /><Relationship Type="http://schemas.openxmlformats.org/officeDocument/2006/relationships/officeDocument" Target="/ppt/presentation.xml" Id="Rd54043a5f66e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00282e0e14c4b"/>
  </p:sldMasterIdLst>
  <p:notesMasterIdLst>
    <p:notesMasterId xmlns:r="http://schemas.openxmlformats.org/officeDocument/2006/relationships" r:id="Rf1adf88b0f9f471c"/>
  </p:notesMasterIdLst>
  <p:sldIdLst>
    <p:sldId xmlns:r="http://schemas.openxmlformats.org/officeDocument/2006/relationships" id="256" r:id="R3b680c84668347af"/>
    <p:sldId xmlns:r="http://schemas.openxmlformats.org/officeDocument/2006/relationships" id="257" r:id="R85f7d33594d64658"/>
    <p:sldId xmlns:r="http://schemas.openxmlformats.org/officeDocument/2006/relationships" id="258" r:id="Rb43bd1fecd86459f"/>
    <p:sldId xmlns:r="http://schemas.openxmlformats.org/officeDocument/2006/relationships" id="259" r:id="R4dc9515deb544d55"/>
    <p:sldId xmlns:r="http://schemas.openxmlformats.org/officeDocument/2006/relationships" id="260" r:id="R93b5f0f9e07c424f"/>
    <p:sldId xmlns:r="http://schemas.openxmlformats.org/officeDocument/2006/relationships" id="261" r:id="R28290417f68b48cd"/>
    <p:sldId xmlns:r="http://schemas.openxmlformats.org/officeDocument/2006/relationships" id="262" r:id="Rfbb8a15341ab4c3e"/>
    <p:sldId xmlns:r="http://schemas.openxmlformats.org/officeDocument/2006/relationships" id="263" r:id="Re94759b1c9574dac"/>
    <p:sldId xmlns:r="http://schemas.openxmlformats.org/officeDocument/2006/relationships" id="264" r:id="R6cbf0dcc5ed344f9"/>
    <p:sldId xmlns:r="http://schemas.openxmlformats.org/officeDocument/2006/relationships" id="265" r:id="R56d8704d951348a0"/>
    <p:sldId xmlns:r="http://schemas.openxmlformats.org/officeDocument/2006/relationships" id="266" r:id="Rd0e86078147448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00282e0e14c4b" /><Relationship Type="http://schemas.openxmlformats.org/officeDocument/2006/relationships/theme" Target="/ppt/theme/theme1.xml" Id="R31b38149a62746d2" /><Relationship Type="http://schemas.openxmlformats.org/officeDocument/2006/relationships/notesMaster" Target="/ppt/notesMasters/notesMaster1.xml" Id="Rf1adf88b0f9f471c" /><Relationship Type="http://schemas.openxmlformats.org/officeDocument/2006/relationships/presProps" Target="/ppt/presProps.xml" Id="R7d16b9069a314a18" /><Relationship Type="http://schemas.openxmlformats.org/officeDocument/2006/relationships/viewProps" Target="/ppt/viewProps.xml" Id="R93a6474962b249e5" /><Relationship Type="http://schemas.openxmlformats.org/officeDocument/2006/relationships/tableStyles" Target="/ppt/tableStyles.xml" Id="R20580f239a974feb" /><Relationship Type="http://schemas.openxmlformats.org/officeDocument/2006/relationships/slide" Target="/ppt/slides/slide1.xml" Id="R3b680c84668347af" /><Relationship Type="http://schemas.openxmlformats.org/officeDocument/2006/relationships/slide" Target="/ppt/slides/slide2.xml" Id="R85f7d33594d64658" /><Relationship Type="http://schemas.openxmlformats.org/officeDocument/2006/relationships/slide" Target="/ppt/slides/slide3.xml" Id="Rb43bd1fecd86459f" /><Relationship Type="http://schemas.openxmlformats.org/officeDocument/2006/relationships/slide" Target="/ppt/slides/slide4.xml" Id="R4dc9515deb544d55" /><Relationship Type="http://schemas.openxmlformats.org/officeDocument/2006/relationships/slide" Target="/ppt/slides/slide5.xml" Id="R93b5f0f9e07c424f" /><Relationship Type="http://schemas.openxmlformats.org/officeDocument/2006/relationships/slide" Target="/ppt/slides/slide6.xml" Id="R28290417f68b48cd" /><Relationship Type="http://schemas.openxmlformats.org/officeDocument/2006/relationships/slide" Target="/ppt/slides/slide7.xml" Id="Rfbb8a15341ab4c3e" /><Relationship Type="http://schemas.openxmlformats.org/officeDocument/2006/relationships/slide" Target="/ppt/slides/slide8.xml" Id="Re94759b1c9574dac" /><Relationship Type="http://schemas.openxmlformats.org/officeDocument/2006/relationships/slide" Target="/ppt/slides/slide9.xml" Id="R6cbf0dcc5ed344f9" /><Relationship Type="http://schemas.openxmlformats.org/officeDocument/2006/relationships/slide" Target="/ppt/slides/slide10.xml" Id="R56d8704d951348a0" /><Relationship Type="http://schemas.openxmlformats.org/officeDocument/2006/relationships/slide" Target="/ppt/slides/slide11.xml" Id="Rd0e860781474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a650cac787648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2287d856424d70" /><Relationship Type="http://schemas.openxmlformats.org/officeDocument/2006/relationships/notesMaster" Target="/ppt/notesMasters/notesMaster1.xml" Id="R0d29205bdd5445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40487c57d445c" /><Relationship Type="http://schemas.openxmlformats.org/officeDocument/2006/relationships/notesMaster" Target="/ppt/notesMasters/notesMaster1.xml" Id="Rcfcc790569b7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79c2939d8f4a0d" /><Relationship Type="http://schemas.openxmlformats.org/officeDocument/2006/relationships/notesMaster" Target="/ppt/notesMasters/notesMaster1.xml" Id="R12ccb798d5a146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01fc462054ea8" /><Relationship Type="http://schemas.openxmlformats.org/officeDocument/2006/relationships/notesMaster" Target="/ppt/notesMasters/notesMaster1.xml" Id="R74c08b6c3c774e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6c21bf00224c7c" /><Relationship Type="http://schemas.openxmlformats.org/officeDocument/2006/relationships/notesMaster" Target="/ppt/notesMasters/notesMaster1.xml" Id="R644ad0d986a5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45b86baf36469f" /><Relationship Type="http://schemas.openxmlformats.org/officeDocument/2006/relationships/notesMaster" Target="/ppt/notesMasters/notesMaster1.xml" Id="Ra90a877c9ed2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953cd152941ff" /><Relationship Type="http://schemas.openxmlformats.org/officeDocument/2006/relationships/notesMaster" Target="/ppt/notesMasters/notesMaster1.xml" Id="Rb4ea99b9e7b2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c22e7083e42df" /><Relationship Type="http://schemas.openxmlformats.org/officeDocument/2006/relationships/notesMaster" Target="/ppt/notesMasters/notesMaster1.xml" Id="R044a0e0a700747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1803ee8fdb4da4" /><Relationship Type="http://schemas.openxmlformats.org/officeDocument/2006/relationships/notesMaster" Target="/ppt/notesMasters/notesMaster1.xml" Id="Rdb9f05efb84645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ec3633323049c7" /><Relationship Type="http://schemas.openxmlformats.org/officeDocument/2006/relationships/notesMaster" Target="/ppt/notesMasters/notesMaster1.xml" Id="R430349186d0e41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7b8149ecfc4b8c" /><Relationship Type="http://schemas.openxmlformats.org/officeDocument/2006/relationships/notesMaster" Target="/ppt/notesMasters/notesMaster1.xml" Id="R09642556eada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promise: the office keeps moving even when the internet does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grounded in real office pain, not software jargon.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product as an operating system for the office, not a feature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is speed. The staff should feel like the app removes friction, not adds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it clear that output is part of the product, not a side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reason to buy. Say it plainly and with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product value to commercial value without sounding pushy.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needs to be easy for office staff, but still safe for the administrator.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offline bundle as the practical first step. Cloud comes later if the school wants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roadmap short and credible. The first win is the offline install.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real pilot question, not a generic marketing close.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e6fdefc604d4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740dc62086425d" /><Relationship Type="http://schemas.openxmlformats.org/officeDocument/2006/relationships/slideLayout" Target="/ppt/slideLayouts/slideLayout2.xml" Id="Rb2dab8ffb25b44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dab8ffb25b44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5fd36723c442c" /><Relationship Type="http://schemas.openxmlformats.org/officeDocument/2006/relationships/image" Target="/ppt/media/image.png" Id="R3a9f77f560074740" /><Relationship Type="http://schemas.openxmlformats.org/officeDocument/2006/relationships/image" Target="/ppt/media/image2.png" Id="R4c80b045edb74cb7" /><Relationship Type="http://schemas.openxmlformats.org/officeDocument/2006/relationships/notesSlide" Target="/ppt/notesSlides/notesSlide1.xml" Id="R9f8cd2569c65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cf1fbb4ef45c4" /><Relationship Type="http://schemas.openxmlformats.org/officeDocument/2006/relationships/notesSlide" Target="/ppt/notesSlides/notesSlide2.xml" Id="R58122d8e872a43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53266d288429c" /><Relationship Type="http://schemas.openxmlformats.org/officeDocument/2006/relationships/notesSlide" Target="/ppt/notesSlides/notesSlide3.xml" Id="R9f70916de080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05ac4c9a8e47b9" /><Relationship Type="http://schemas.openxmlformats.org/officeDocument/2006/relationships/notesSlide" Target="/ppt/notesSlides/notesSlide4.xml" Id="Rffd6921e96df48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8a46c6ea734ebf" /><Relationship Type="http://schemas.openxmlformats.org/officeDocument/2006/relationships/notesSlide" Target="/ppt/notesSlides/notesSlide5.xml" Id="Ra90d3204dc9044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74cf3a998741c6" /><Relationship Type="http://schemas.openxmlformats.org/officeDocument/2006/relationships/notesSlide" Target="/ppt/notesSlides/notesSlide6.xml" Id="R953840b0c5c2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516b6c87e41ba" /><Relationship Type="http://schemas.openxmlformats.org/officeDocument/2006/relationships/notesSlide" Target="/ppt/notesSlides/notesSlide7.xml" Id="R44fe2d7fbdd14c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893bad465e4cce" /><Relationship Type="http://schemas.openxmlformats.org/officeDocument/2006/relationships/notesSlide" Target="/ppt/notesSlides/notesSlide8.xml" Id="Ra4689f68b782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c163784434989" /><Relationship Type="http://schemas.openxmlformats.org/officeDocument/2006/relationships/notesSlide" Target="/ppt/notesSlides/notesSlide9.xml" Id="R70026f34f40e4a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0edcde3314d8c" /><Relationship Type="http://schemas.openxmlformats.org/officeDocument/2006/relationships/notesSlide" Target="/ppt/notesSlides/notesSlide10.xml" Id="R1f2991733fe14c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3e13c6f5cc424c" /><Relationship Type="http://schemas.openxmlformats.org/officeDocument/2006/relationships/notesSlide" Target="/ppt/notesSlides/notesSlide11.xml" Id="R441ae372dd38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f77f560074740"/>
          <a:stretch xmlns:a="http://schemas.openxmlformats.org/drawingml/2006/main"/>
        </p:blipFill>
        <p:spPr>
          <a:xfrm xmlns:a="http://schemas.openxmlformats.org/drawingml/2006/main">
            <a:off x="8972550" y="666750"/>
            <a:ext cx="200025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65C31-CF60-4D80-8A0F-C80BFD9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School Foundry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E99BA-374C-4010-B26E-3443117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Offline school office software for payments, receipts, statements, and class lists.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A3C07-2A9F-4117-A515-4040AA13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 local-first administration for schools that cannot afford downtime.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C833A-4EFA-403F-A35C-B95FDC6D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Offline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EEFD8-CD80-43F4-8186-4A5FC942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67150"/>
            <a:ext cx="1028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Receipting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3ABCF-07E5-462F-9E7C-563528F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67150"/>
            <a:ext cx="1028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Statements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BD3B1-5689-47B3-8378-7306467B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6715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Class lists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0D517-B692-44E0-AAB7-E7E7BF36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8481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0b045edb74cb7"/>
          <a:stretch xmlns:a="http://schemas.openxmlformats.org/drawingml/2006/main"/>
        </p:blipFill>
        <p:spPr>
          <a:xfrm xmlns:a="http://schemas.openxmlformats.org/drawingml/2006/main">
            <a:off x="8572500" y="1905000"/>
            <a:ext cx="2057400" cy="66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46972-3DAE-4097-BEA9-6E7D1DA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Built for schools that need to keep working when the internet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5A2C0-FC5E-42D2-8321-DCF8778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914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Pilot focus: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Fast learner lookup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One-step payment capture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Print-ready outputs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Local backups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02347-9F36-4FEA-B2DF-6207F746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93DBB-E058-4D75-AEC9-1BAE5369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School Foundry pilot deck</a:t>
            </a:r>
          </a:p>
        </p:txBody>
      </p:sp>
    </p:spTree>
    <p:extLst>
      <p:ext uri="{BB962C8B-B14F-4D97-AF65-F5344CB8AC3E}">
        <p14:creationId xmlns:p14="http://schemas.microsoft.com/office/powerpoint/2010/main" val="1009085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B7EBE3-4670-4BA4-A824-59B317C4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BE6FA-1575-4964-A1C9-6E15AC7E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78C3F-CD29-44C5-A00B-B6CD40DE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What schools live with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6F8A6-2355-4F64-ACDB-04D0D3C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5A5E9-EC73-4AC8-8AED-D1D20C7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38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12122-AEAF-42B5-9A07-591314CF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Office reality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C54E2-48E9-4673-BE04-64EB270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895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Payments are tracked in spreadsheets, notebooks, and memory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Receipts take too long to issue or reconcile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Statements are slow to prepare and easy to get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96A25-34FB-4650-A68D-09489820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EC960-5D1E-46BF-BC3E-3DD1F94F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5238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97ADD-E945-4EEB-8E0B-73C776ED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Operational drag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3923D-B1BD-4106-B47C-B691EAD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895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Class lists drift out of date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Internet outages break the office rhythm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Staff spend too much time hunting for balances and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B7CD0-3D80-4C37-A34E-0C55586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1906">
            <a:solidFill>
              <a:srgbClr val="B91C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076AB-8B6A-49F0-9076-473B2B80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B4487-B246-4B82-A0BA-F762E013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3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this costs the school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E9CD9-C338-47DA-8B13-39EA02F0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43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Time, accuracy, and trust. Every manual receipt, every misplaced balance, and every outage makes the office feel slower and less 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D35E1-9CE5-44FA-B92F-7080985F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7021D-AFAE-4546-B5A0-39E8C81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problem slide</a:t>
            </a:r>
          </a:p>
        </p:txBody>
      </p:sp>
    </p:spTree>
    <p:extLst>
      <p:ext uri="{BB962C8B-B14F-4D97-AF65-F5344CB8AC3E}">
        <p14:creationId xmlns:p14="http://schemas.microsoft.com/office/powerpoint/2010/main" val="1173660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CBF5D-40DA-4837-BFF1-CB7DF76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C9CAD-1132-4BA5-9237-46965D7B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How the Platform Fits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672C-E08D-448E-ABD5-BB6B84F0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One system with five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BFCE-676E-4AD8-BC37-46623EF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B02CF-59E4-4356-8825-B33C338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906">
            <a:solidFill>
              <a:srgbClr val="111827"/>
            </a:solidFill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School Foundry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2C82C-8DB8-44DD-8B13-C34153B2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Learner registry</a:t>
            </a:r>
          </a:p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 search and account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FADFA-A47C-4F1E-A1B0-E5E148D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Payments</a:t>
            </a:r>
          </a:p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 money and update balances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A4C46-ADC5-4F50-AC75-B95A5B30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Receipts</a:t>
            </a:r>
          </a:p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Print proof immediately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C6CF8-8072-4361-B25F-E46F740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2400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 lists</a:t>
            </a:r>
          </a:p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Office-ready lists and exports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2AD71-C641-4B3C-82F1-FD30D7CA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Backup &amp; control</a:t>
            </a:r>
          </a:p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Recovery, logs, settings, training</a:t>
            </a:r>
          </a:p>
        </p:txBody>
      </p:sp>
      <p:cxnSp>
        <p:nvCxnSpPr>
          <p:cNvPr id="11" name="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086100" y="2000250"/>
            <a:ext cx="13906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12" name=""/>
          <p:cNvCxnSpPr>
            <a:stCxn xmlns:a="http://schemas.openxmlformats.org/drawingml/2006/main" id="5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086100" y="3143250"/>
            <a:ext cx="13906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13" name=""/>
          <p:cNvCxnSpPr>
            <a:stCxn xmlns:a="http://schemas.openxmlformats.org/drawingml/2006/main" id="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086100" y="3143250"/>
            <a:ext cx="1390650" cy="1943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14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715250" y="2000250"/>
            <a:ext cx="13906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15250" y="3143250"/>
            <a:ext cx="13906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22B61-18C6-4E10-AD50-01B91E23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It behaves like an office system, not a feature list.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247C8-3F1F-45EC-8C6C-20F0111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B9F98-9081-4219-ADD6-04E16DEB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Platform map</a:t>
            </a:r>
          </a:p>
        </p:txBody>
      </p:sp>
    </p:spTree>
    <p:extLst>
      <p:ext uri="{BB962C8B-B14F-4D97-AF65-F5344CB8AC3E}">
        <p14:creationId xmlns:p14="http://schemas.microsoft.com/office/powerpoint/2010/main" val="1876888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1269D-AC5B-43D1-8D58-F2B56E7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EFD3D-6D8A-44AB-9416-4C81CE7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From Search to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1D3D3-60E6-4A23-883E-D13965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 daily workflow that removes friction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6CDE5-C11B-45A2-97DA-2C17FFC8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336F9-520C-413E-9CB8-D50B02C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143250" cy="4476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EFBEF-B681-4A91-BBAB-6EE29803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learner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95A53-BC20-49DC-8973-C48DA3A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6860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Type a name or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02356-3444-486E-BE0E-5B43BE74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6860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N. Dube  •  Grade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8B5CC-3780-4918-B82C-BF49259B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6860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A. Ncube  •  Grade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B60B5-07D8-41CF-9A9C-0DFC05E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6860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M. Phiri  •  Grade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9FBDD-0A24-4059-B9A4-B0F4147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686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1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Found learner</a:t>
            </a:r>
          </a:p>
          <a:p xmlns:a="http://schemas.openxmlformats.org/drawingml/2006/main">
            <a:pPr algn="ctr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account immediately</a:t>
            </a:r>
          </a:p>
          <a:p xmlns:a="http://schemas.openxmlformats.org/drawingml/2006/main">
            <a:pPr algn="ctr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See current balance and last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C4285-8D04-4569-967E-09993D52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85900"/>
            <a:ext cx="3714750" cy="4476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D4682-63FC-448B-8C2D-0E1E6640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33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Account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404A0-C81E-4618-A02E-F401F98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906">
            <a:solidFill>
              <a:srgbClr val="1118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balance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 1,240 owing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B9D6C-6FE7-490E-86AA-7678D132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24200"/>
            <a:ext cx="1000125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Term</a:t>
            </a:r>
          </a:p>
          <a:p xmlns:a="http://schemas.openxmlformats.org/drawingml/2006/main">
            <a:pPr algn="ctr">
              <a:defRPr sz="120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5CA5D-0CDE-47E0-B02D-9EDFFDBA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24200"/>
            <a:ext cx="1000125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Last paid</a:t>
            </a:r>
          </a:p>
          <a:p xmlns:a="http://schemas.openxmlformats.org/drawingml/2006/main">
            <a:pPr algn="ctr">
              <a:defRPr sz="112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3 days ago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96028-6B22-460C-B584-F2BCAE5D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10287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Status</a:t>
            </a:r>
          </a:p>
          <a:p xmlns:a="http://schemas.openxmlformats.org/drawingml/2006/main">
            <a:pPr algn="ctr">
              <a:defRPr sz="120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2F51D-E73C-4920-9ADF-2989A271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Recent activity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Payment recorded: R 300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Statement printed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Fee balance updated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7764B-C935-4883-A8D7-0924AF15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85900"/>
            <a:ext cx="3371850" cy="44767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92BCB-FFAB-4993-8B98-59545DA2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 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9A458-215A-4DDB-9D99-66C62A60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2914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Amount: R 300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0402A-28F2-48C3-963C-017707A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914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Method: Cash / EFT / 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DA605-0B9B-44CD-94CC-A636FBB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9146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Save payment</a:t>
            </a:r>
          </a:p>
          <a:p xmlns:a="http://schemas.openxmlformats.org/drawingml/2006/main">
            <a:pPr algn="ctr">
              <a:defRPr sz="1350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then go straight to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E4A20-D44C-4193-AA45-8AE64D5E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2914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906">
            <a:solidFill>
              <a:srgbClr val="1118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Balance updates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Receipt prints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Statement remains current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90ACA-E4FA-4803-B9EA-0C7703E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914A0-A479-4F76-BBA5-787C9C5B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Daily workflow</a:t>
            </a:r>
          </a:p>
        </p:txBody>
      </p:sp>
    </p:spTree>
    <p:extLst>
      <p:ext uri="{BB962C8B-B14F-4D97-AF65-F5344CB8AC3E}">
        <p14:creationId xmlns:p14="http://schemas.microsoft.com/office/powerpoint/2010/main" val="369779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A18F7-D04D-4872-934B-6F8979E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0BE55-56BA-4FDF-A66A-3499CDB9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Receipts, Statements, and Class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DA51A-178B-48A8-9B8F-2EF13DC0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Outputs staff can produce without leaving the office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CC295-0A85-4D91-9D36-C40281D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9E052-110D-44DF-BB44-59150BA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7150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45A40-6E9F-4329-AEF3-573890EA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Statement preview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569B5-C162-4BDB-9190-EFB149FA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2578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CD914-B025-4D89-BB0A-4E802DD3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School Foundry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8C1F0-1A7E-4C0B-96CF-05728B1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8006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Learner: N. Dube</a:t>
            </a:r>
          </a:p>
          <a:p xmlns:a="http://schemas.openxmlformats.org/drawingml/2006/main">
            <a:pPr algn="l"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Account balance: R 1,240 owing</a:t>
            </a:r>
          </a:p>
          <a:p xmlns:a="http://schemas.openxmlformats.org/drawingml/2006/main">
            <a:pPr algn="l"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Payments this term: R 900</a:t>
            </a:r>
          </a:p>
          <a:p xmlns:a="http://schemas.openxmlformats.org/drawingml/2006/main">
            <a:pPr algn="l"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Last payment: R 300 on 24 May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Use this for a print-ready statement that the office can hand over immediately.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5A7B7-8290-4A2B-B49A-B55CFDB5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2E345-9055-4A44-BD7E-018A9DC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57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DE1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PDF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1B290-E410-49F5-AB07-94EC4EB8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DE1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Excel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992CC-BA7B-4209-8671-30D73B58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31DC-1551-4122-913B-4239A2D4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85900"/>
            <a:ext cx="497205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45D22-C606-4718-BDF1-1DF7F9F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 list + exports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D0127-B1BF-44AD-9CC0-FB5E56C5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4514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Learner	Balance	Status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N. Dube	R 1,240	Owing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A. Ncube	R 0	Paid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M. Phiri	R 480	Owing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T. Moyo	R 150	Late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S. Banda	R 0	Paid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Excel and PDF exports are first-class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E3DFB-FE15-4B3D-8268-4F379AAD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4514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Receipts, statements, and class lists are ready when the office needs them - no separate spreadsheet wrangling.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BFC20-3FEE-4177-8B1A-7C22AA7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1C246-3DCC-4211-827B-020544E1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Outputs and export flows</a:t>
            </a:r>
          </a:p>
        </p:txBody>
      </p:sp>
    </p:spTree>
    <p:extLst>
      <p:ext uri="{BB962C8B-B14F-4D97-AF65-F5344CB8AC3E}">
        <p14:creationId xmlns:p14="http://schemas.microsoft.com/office/powerpoint/2010/main" val="91959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E494D1-74E2-4D62-BA5D-17A094BE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4657D-86E7-4386-A8D6-7266F2E6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Why Offline Wins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86DC7-5FF3-473F-9A95-E481DA3A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strongest reason to buy this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C83D5-3D1C-43A6-881D-71E18E6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230D2-038B-4615-8FDD-9B87560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766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64DCE-8B9A-420D-BDCB-3F29EF48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 internet dependency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8D43-3F2B-4BCB-9EF4-465FB9F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933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office keeps working during outages and weak connectivity.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88EE0-2A5B-4CA3-93E8-42E8BFC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870F3-09FE-49D5-AE63-A2778FD3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766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E07A8-99E0-4667-BCBE-35F50130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Local data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00321-7938-4287-B0DA-9224CDA2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2933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Data stays on the school machine and backup drive.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7AE6A-8BA2-49D9-BDDC-A55639AF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1906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E80B7-E643-4F97-9B43-20F197B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2766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A19A9-FDF8-492C-90D1-9FA44E6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Fast local printing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D93D1-5B2F-43F6-95E2-FE1FC7C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2933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Receipts and statements go straight to the printer.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EFD4A-68FF-4675-ADD6-8124468C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1906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E2B96-3B97-4A75-990B-82A70AC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9C1AE-D79F-4C64-8AB8-89E0AF9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4668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Laptop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AC672-F4E3-4F48-ABDD-DA7C226E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14668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SQLite 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12BA6-A262-42FE-B4DF-EF2A074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14668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Receipt printer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5A960-7217-41C8-8DFE-6995473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29100"/>
            <a:ext cx="14668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Backup drive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6DD25-780D-4A65-AA11-D9539751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29100"/>
            <a:ext cx="14668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Restore when needed</a:t>
            </a:r>
          </a:p>
        </p:txBody>
      </p:sp>
      <p:cxnSp>
        <p:nvCxnSpPr>
          <p:cNvPr id="2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533650" y="4667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610100" y="4667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2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686550" y="4667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63000" y="4667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42412-2F11-415F-A68B-F36E295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84ACF-9225-4012-B102-A52C5B9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Offline value</a:t>
            </a:r>
          </a:p>
        </p:txBody>
      </p:sp>
    </p:spTree>
    <p:extLst>
      <p:ext uri="{BB962C8B-B14F-4D97-AF65-F5344CB8AC3E}">
        <p14:creationId xmlns:p14="http://schemas.microsoft.com/office/powerpoint/2010/main" val="644107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CA74E-7261-452E-AF4A-E42E516A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CFB71-FAA9-44E8-AD14-5ECB5380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Why This Pays 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77E15-0B70-47F3-8B82-A6D9266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School value on one side, business value on the other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7575-72CD-46AD-A202-B59EEE1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6C185-C2F6-43E2-A6C6-78A823F0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D4D24-362B-4695-8D04-0283DA13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0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Value for the school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56E30-6A5C-4FCC-9616-7EB18A91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705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Faster office service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Fewer receipting mistakes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Cleaner audit trail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Better parent trust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Less reconciliation stress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42BF5-B705-40FE-AE1E-A843823F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1906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26D0E-92A5-448A-9321-83859112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24000"/>
            <a:ext cx="504825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D5023-CCB6-464F-A4FD-E53DEAC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70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Value for the 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2D202-8DD2-4E85-BB0B-5ACE3967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705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One-time deployment creates the first sale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Training and support create ongoing revenue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Offline bundles increase the average order value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Cloud sync becomes the next upsell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90039-C814-4600-93C9-4210F62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3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E0441-C279-46BB-9B54-B494609E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deck should feel like a practical purchase, not a speculative software demo.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F4C37-6B97-4155-8AD6-FDA9B057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EA5A-FF56-4ADE-BC0B-2F57343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Product-to-financial linkage</a:t>
            </a:r>
          </a:p>
        </p:txBody>
      </p:sp>
    </p:spTree>
    <p:extLst>
      <p:ext uri="{BB962C8B-B14F-4D97-AF65-F5344CB8AC3E}">
        <p14:creationId xmlns:p14="http://schemas.microsoft.com/office/powerpoint/2010/main" val="1549316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3E297-9231-47B4-B3D5-3317ACA5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5EA9F-5731-496A-93F3-FA527EBA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Admin Control Without Chaos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F416A-6864-40EB-B25D-D2B6451E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system stays safe without becoming hard to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000EB-CA16-4A4E-B6A5-DDCB5E4D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BC151-D0E5-4B2A-B02D-EE87F383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766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424CD-9C10-4936-BD1D-A7E1BC8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 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E39C8-A51D-443D-BBEB-79C87F2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Roles and permissions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93E7F-AB68-4CC5-9605-2DD628B5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766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1AF40-41BC-4655-A9C9-2C3BCBF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Activity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86D2A-9673-445E-BC65-AF6E65B5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Audit trail for changes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CAB08-FC84-4A66-960F-DE42EAD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2766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077CA-5529-458E-8899-B046419B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Branding and 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89A2F-108F-4F6B-9EC4-695EB70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School identity and defaults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28F89-CDE3-4FF8-B006-2B22293F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2766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0D6A5-8AEE-46A1-BE39-00D85793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Backup and restore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03170-D585-4687-A566-ACA5CE9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Recovery when things go wrong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3471C-D930-4A54-A4ED-6206B28D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32766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80368-62F5-4A9F-8AA1-A478FFD7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Maintenance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9960F-D293-4761-BFD0-1B4A671A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Reset, repair, and recover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BF59C-916E-41BC-A93E-FAAA3F8A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32766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58934-2580-47FF-8327-ED361D7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Built-in user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5890B-28FD-4104-A282-264DB5C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Training support for staff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C7D0F-F690-4D92-9966-3945D6F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administrator gets control. The office staff gets a simple flow. That separation is what makes the product safe at small scale and usable at real scale.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1DD3C-468C-41B9-BB1F-3294A3E1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785F1-A1FC-4307-A376-B6C09D1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Admin controls</a:t>
            </a:r>
          </a:p>
        </p:txBody>
      </p:sp>
    </p:spTree>
    <p:extLst>
      <p:ext uri="{BB962C8B-B14F-4D97-AF65-F5344CB8AC3E}">
        <p14:creationId xmlns:p14="http://schemas.microsoft.com/office/powerpoint/2010/main" val="2112560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567547-3228-46C6-A815-132D903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FBAEF-CA7B-4F5D-9D54-AA0B4CC0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Offline Bundle Includes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82A79-E01A-4694-B3B0-0F506CB8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 practical first-step offer that is easy to understand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6EC32-87C4-4A24-BF75-97A1C6F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772A4-6C84-4EB0-8A05-CFE53638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197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6B25E-DC5C-4991-94FB-EF478F6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Bundle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94848-A6DC-44DA-BA31-D09F57A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8768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Desktop app install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Local database setup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Branding setup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Staff training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Receipting and statements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PDF and Excel export workflow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Backup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BA3E5-D15F-4B89-9849-D4BEA4BB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1CE4B-168F-49A5-9798-ECAAC9F6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52197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E82B1-35B2-4A24-93A0-48137A12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Optional later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D84C4-24A4-490F-B6B0-0A6E55D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8768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Cloud sync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Remote access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Parent portal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Messaging add-ons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64D89-697A-4385-8D0F-E1670B61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3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1906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3F0C4-1918-4AEA-BDC3-60B7ACEF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Frame the offline bundle as the practical first step. Cloud comes later if the school wants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8A5C4-29A8-4D4D-9B3C-F551B7DE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A219E-90B8-4763-8B86-04D1335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Offline bundle offer</a:t>
            </a:r>
          </a:p>
        </p:txBody>
      </p:sp>
    </p:spTree>
    <p:extLst>
      <p:ext uri="{BB962C8B-B14F-4D97-AF65-F5344CB8AC3E}">
        <p14:creationId xmlns:p14="http://schemas.microsoft.com/office/powerpoint/2010/main" val="653635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B398F-E722-443E-BBA1-7D49A53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DB7FF-BF90-45BD-92F6-33124C7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DE5D9-7DE8-402D-943E-BDB75FFA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Keep the first win simple, then expand from there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AD600-C81C-49BB-8EFD-A809E8E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2333-5C9A-4FAF-B28C-B54776F8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705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Now</a:t>
            </a:r>
          </a:p>
          <a:p xmlns:a="http://schemas.openxmlformats.org/drawingml/2006/main">
            <a:pPr algn="ctr">
              <a:defRPr sz="19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Reliable offline office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66BD5-69A5-4942-BC40-7CE7C0E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36635-7742-417A-B4CC-8DF455C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90750"/>
            <a:ext cx="2705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</a:t>
            </a:r>
          </a:p>
          <a:p xmlns:a="http://schemas.openxmlformats.org/drawingml/2006/main">
            <a:pPr algn="ctr">
              <a:defRPr sz="19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 edition for remote access and multi-device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F5383-69B3-4C3F-9F0D-7E9279A0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1906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29D7B-6FE3-4E00-83E8-AB88A12B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90750"/>
            <a:ext cx="2705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Later</a:t>
            </a:r>
          </a:p>
          <a:p xmlns:a="http://schemas.openxmlformats.org/drawingml/2006/main">
            <a:pPr algn="ctr">
              <a:defRPr sz="19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Parent-facing features and central reporting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25B42-63DF-4C45-A368-4DB28E14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1906">
            <a:solidFill>
              <a:srgbClr val="111827"/>
            </a:solidFill>
            <a:prstDash val="solid"/>
          </a:ln>
        </p:spPr>
      </p:sp>
      <p:cxnSp>
        <p:nvCxnSpPr>
          <p:cNvPr id="1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3147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58000" y="33147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ADAA2-4D65-4A3B-9213-419ACE20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1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first win is the offline install. Everything else should grow from real usage, not from a roadmap fantasy.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920F4-76A1-47A8-A234-D33994D3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8EBB0-20BF-4FE7-ACAB-4D478E5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913491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CB55E-F511-4616-8C0A-6F0EC56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7A2C-C352-4773-8E6E-A3528650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We Want From the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45746-8708-44F0-B513-F0CCD794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 real-school trial should tell us what to keep and what to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47FEC-2511-4553-8830-ECE2863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9731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E35FF-160A-4773-911D-BEFCD76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4384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4F143-8C71-46FC-B361-EC4B809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062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 need to learn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63B24-6D8C-4977-B08E-008A1C28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629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Is it easy for office staff to use?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Are the outputs clear enough?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Does printing work with the school setup?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Does the account view feel fast?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should improve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FE135-AA9E-4920-B7EF-9C46854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906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14B2C-5FFE-4148-9620-634F87A9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Pilot ask</a:t>
            </a:r>
          </a:p>
          <a:p xmlns:a="http://schemas.openxmlformats.org/drawingml/2006/main">
            <a:pPr algn="ctr">
              <a:defRPr sz="16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Install it in one office, run it for real work, and let the staff tell us what makes their day easier.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23B3E-13E6-4C96-A8E1-87CF000C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Pilot success is measured by clarity, speed, and trust - not by how much of the roadmap gets discussed.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26826-2AD9-41DC-ABCE-1156B3A7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4763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A0F8E-ABC5-48B4-AB9C-DC702757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3">
            <a:solidFill>
              <a:srgbClr val="F5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Pilot ask</a:t>
            </a:r>
          </a:p>
        </p:txBody>
      </p:sp>
    </p:spTree>
    <p:extLst>
      <p:ext uri="{BB962C8B-B14F-4D97-AF65-F5344CB8AC3E}">
        <p14:creationId xmlns:p14="http://schemas.microsoft.com/office/powerpoint/2010/main" val="1558915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2026-05-28T13:31:23.6260000Z</dcterms:created>
  <dcterms:modified xsi:type="dcterms:W3CDTF">2026-05-28T13:31:23.6270000Z</dcterms:modified>
</coreProperties>
</file>